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aret Bold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Garet Light" charset="1" panose="00000000000000000000"/>
      <p:regular r:id="rId22"/>
    </p:embeddedFont>
    <p:embeddedFont>
      <p:font typeface="Bree Serif" charset="1" panose="02000503040000020004"/>
      <p:regular r:id="rId23"/>
    </p:embeddedFont>
    <p:embeddedFont>
      <p:font typeface="Roboto" charset="1" panose="02000000000000000000"/>
      <p:regular r:id="rId24"/>
    </p:embeddedFont>
    <p:embeddedFont>
      <p:font typeface="Arimo" charset="1" panose="020B0604020202020204"/>
      <p:regular r:id="rId25"/>
    </p:embeddedFont>
    <p:embeddedFont>
      <p:font typeface="Calibri (MS)" charset="1" panose="020F0502020204030204"/>
      <p:regular r:id="rId26"/>
    </p:embeddedFont>
    <p:embeddedFont>
      <p:font typeface="Archivo Black" charset="1" panose="020B0A03020202020B04"/>
      <p:regular r:id="rId27"/>
    </p:embeddedFont>
    <p:embeddedFont>
      <p:font typeface="Calibri (MS) Bold" charset="1" panose="020F07020304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09952"/>
            <a:ext cx="4029423" cy="34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1"/>
              </a:lnSpc>
              <a:spcBef>
                <a:spcPct val="0"/>
              </a:spcBef>
            </a:pPr>
            <a:r>
              <a:rPr lang="en-US" b="true" sz="21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INTEGRANTES: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98503"/>
            <a:ext cx="4029423" cy="105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154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Maria Paz Rivera</a:t>
            </a:r>
          </a:p>
          <a:p>
            <a:pPr algn="l">
              <a:lnSpc>
                <a:spcPts val="2801"/>
              </a:lnSpc>
            </a:pPr>
            <a:r>
              <a:rPr lang="en-US" sz="2154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Marco Saldivia</a:t>
            </a:r>
          </a:p>
          <a:p>
            <a:pPr algn="l" marL="0" indent="0" lvl="0">
              <a:lnSpc>
                <a:spcPts val="2801"/>
              </a:lnSpc>
              <a:spcBef>
                <a:spcPct val="0"/>
              </a:spcBef>
            </a:pPr>
            <a:r>
              <a:rPr lang="en-US" sz="2154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Gadhiell Camilo Chavez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9020" y="8509952"/>
            <a:ext cx="4029423" cy="34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1"/>
              </a:lnSpc>
              <a:spcBef>
                <a:spcPct val="0"/>
              </a:spcBef>
            </a:pPr>
            <a:r>
              <a:rPr lang="en-US" b="true" sz="21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ASIGNATURA: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9020" y="8898503"/>
            <a:ext cx="4029423" cy="34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1"/>
              </a:lnSpc>
              <a:spcBef>
                <a:spcPct val="0"/>
              </a:spcBef>
            </a:pPr>
            <a:r>
              <a:rPr lang="en-US" sz="2154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TPA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90600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29/06/2026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5104" y="8509952"/>
            <a:ext cx="4029423" cy="34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1"/>
              </a:lnSpc>
              <a:spcBef>
                <a:spcPct val="0"/>
              </a:spcBef>
            </a:pPr>
            <a:r>
              <a:rPr lang="en-US" b="true" sz="21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PROFESOR: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75104" y="8898503"/>
            <a:ext cx="4029423" cy="34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1"/>
              </a:lnSpc>
              <a:spcBef>
                <a:spcPct val="0"/>
              </a:spcBef>
            </a:pPr>
            <a:r>
              <a:rPr lang="en-US" sz="2154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Victor Saldivia V.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624238"/>
            <a:ext cx="18288000" cy="252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8399" spc="-663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BITÁCORA DE PROMPT ENGINEERING</a:t>
            </a:r>
          </a:p>
          <a:p>
            <a:pPr algn="ctr">
              <a:lnSpc>
                <a:spcPts val="5700"/>
              </a:lnSpc>
            </a:pPr>
            <a:r>
              <a:rPr lang="en-US" sz="5700" spc="-45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Proyecto: SeguriX</a:t>
            </a:r>
          </a:p>
          <a:p>
            <a:pPr algn="ctr" marL="0" indent="0" lvl="0">
              <a:lnSpc>
                <a:spcPts val="570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561970" y="519827"/>
            <a:ext cx="2014687" cy="2014687"/>
          </a:xfrm>
          <a:custGeom>
            <a:avLst/>
            <a:gdLst/>
            <a:ahLst/>
            <a:cxnLst/>
            <a:rect r="r" b="b" t="t" l="l"/>
            <a:pathLst>
              <a:path h="2014687" w="2014687">
                <a:moveTo>
                  <a:pt x="0" y="0"/>
                </a:moveTo>
                <a:lnTo>
                  <a:pt x="2014688" y="0"/>
                </a:lnTo>
                <a:lnTo>
                  <a:pt x="2014688" y="2014688"/>
                </a:lnTo>
                <a:lnTo>
                  <a:pt x="0" y="2014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81100"/>
            <a:ext cx="18288000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63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Introducción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20809"/>
            <a:ext cx="16230600" cy="303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Esta</a:t>
            </a:r>
            <a:r>
              <a:rPr lang="en-US" sz="4799" spc="-3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bitácora documenta el proceso de utilización de herramientas de Inteligencia Artificial Generativa durante el desarrollo del proyecto SeguriX, indicando los modelos utilizados, los prompts empleados, las respuestas obtenidas y las modificaciones realizadas por el equipo antes de incorporarlas al proyecto.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72962" y="3231255"/>
            <a:ext cx="5997445" cy="3373563"/>
          </a:xfrm>
          <a:custGeom>
            <a:avLst/>
            <a:gdLst/>
            <a:ahLst/>
            <a:cxnLst/>
            <a:rect r="r" b="b" t="t" l="l"/>
            <a:pathLst>
              <a:path h="3373563" w="5997445">
                <a:moveTo>
                  <a:pt x="0" y="0"/>
                </a:moveTo>
                <a:lnTo>
                  <a:pt x="5997445" y="0"/>
                </a:lnTo>
                <a:lnTo>
                  <a:pt x="5997445" y="3373562"/>
                </a:lnTo>
                <a:lnTo>
                  <a:pt x="0" y="337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14958" y="3231255"/>
            <a:ext cx="3373563" cy="3373563"/>
          </a:xfrm>
          <a:custGeom>
            <a:avLst/>
            <a:gdLst/>
            <a:ahLst/>
            <a:cxnLst/>
            <a:rect r="r" b="b" t="t" l="l"/>
            <a:pathLst>
              <a:path h="3373563" w="3373563">
                <a:moveTo>
                  <a:pt x="0" y="0"/>
                </a:moveTo>
                <a:lnTo>
                  <a:pt x="3373562" y="0"/>
                </a:lnTo>
                <a:lnTo>
                  <a:pt x="3373562" y="3373562"/>
                </a:lnTo>
                <a:lnTo>
                  <a:pt x="0" y="337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181100"/>
            <a:ext cx="18288000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63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Herramientas  de  IA  utilizadas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0513" y="7055283"/>
            <a:ext cx="2222343" cy="42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1" spc="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CHATGPT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99052" y="7055283"/>
            <a:ext cx="2605374" cy="42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1" spc="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COPILOT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889673"/>
            <a:ext cx="18288000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63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Registro de Prompts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67406" y="3553144"/>
            <a:ext cx="7466435" cy="5050184"/>
          </a:xfrm>
          <a:custGeom>
            <a:avLst/>
            <a:gdLst/>
            <a:ahLst/>
            <a:cxnLst/>
            <a:rect r="r" b="b" t="t" l="l"/>
            <a:pathLst>
              <a:path h="5050184" w="7466435">
                <a:moveTo>
                  <a:pt x="0" y="0"/>
                </a:moveTo>
                <a:lnTo>
                  <a:pt x="7466436" y="0"/>
                </a:lnTo>
                <a:lnTo>
                  <a:pt x="7466436" y="5050184"/>
                </a:lnTo>
                <a:lnTo>
                  <a:pt x="0" y="505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9482" y="2363998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92685" y="621983"/>
            <a:ext cx="7015877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</a:t>
            </a: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Depuración del código general  antes de hacer commit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03181" y="1059497"/>
            <a:ext cx="4794885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Github Copilot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8541" y="3269371"/>
            <a:ext cx="5185643" cy="5422701"/>
          </a:xfrm>
          <a:custGeom>
            <a:avLst/>
            <a:gdLst/>
            <a:ahLst/>
            <a:cxnLst/>
            <a:rect r="r" b="b" t="t" l="l"/>
            <a:pathLst>
              <a:path h="5422701" w="5185643">
                <a:moveTo>
                  <a:pt x="0" y="0"/>
                </a:moveTo>
                <a:lnTo>
                  <a:pt x="5185642" y="0"/>
                </a:lnTo>
                <a:lnTo>
                  <a:pt x="5185642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14183" y="3269371"/>
            <a:ext cx="6135879" cy="5422701"/>
          </a:xfrm>
          <a:custGeom>
            <a:avLst/>
            <a:gdLst/>
            <a:ahLst/>
            <a:cxnLst/>
            <a:rect r="r" b="b" t="t" l="l"/>
            <a:pathLst>
              <a:path h="5422701" w="6135879">
                <a:moveTo>
                  <a:pt x="0" y="0"/>
                </a:moveTo>
                <a:lnTo>
                  <a:pt x="6135879" y="0"/>
                </a:lnTo>
                <a:lnTo>
                  <a:pt x="6135879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7" t="0" r="-182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46234" y="1390555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26874"/>
            <a:ext cx="491996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Resultado Generado por la 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03181" y="1059497"/>
            <a:ext cx="4794885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Github Copilot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2685" y="621983"/>
            <a:ext cx="7015877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</a:t>
            </a: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Depuración del código general  antes de hacer commit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7264" y="4248043"/>
            <a:ext cx="13406720" cy="2540221"/>
          </a:xfrm>
          <a:custGeom>
            <a:avLst/>
            <a:gdLst/>
            <a:ahLst/>
            <a:cxnLst/>
            <a:rect r="r" b="b" t="t" l="l"/>
            <a:pathLst>
              <a:path h="2540221" w="13406720">
                <a:moveTo>
                  <a:pt x="0" y="0"/>
                </a:moveTo>
                <a:lnTo>
                  <a:pt x="13406720" y="0"/>
                </a:lnTo>
                <a:lnTo>
                  <a:pt x="13406720" y="2540220"/>
                </a:lnTo>
                <a:lnTo>
                  <a:pt x="0" y="254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9482" y="2363998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30894" y="621983"/>
            <a:ext cx="7339459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</a:t>
            </a: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jetivo: Mejora del módulo de Estado del Sistema y Notificaciones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41078" y="1059497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7359" y="2851364"/>
            <a:ext cx="5343004" cy="7003330"/>
          </a:xfrm>
          <a:custGeom>
            <a:avLst/>
            <a:gdLst/>
            <a:ahLst/>
            <a:cxnLst/>
            <a:rect r="r" b="b" t="t" l="l"/>
            <a:pathLst>
              <a:path h="7003330" w="5343004">
                <a:moveTo>
                  <a:pt x="0" y="0"/>
                </a:moveTo>
                <a:lnTo>
                  <a:pt x="5343004" y="0"/>
                </a:lnTo>
                <a:lnTo>
                  <a:pt x="5343004" y="7003331"/>
                </a:lnTo>
                <a:lnTo>
                  <a:pt x="0" y="700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9737" y="2851364"/>
            <a:ext cx="7240905" cy="1998791"/>
          </a:xfrm>
          <a:custGeom>
            <a:avLst/>
            <a:gdLst/>
            <a:ahLst/>
            <a:cxnLst/>
            <a:rect r="r" b="b" t="t" l="l"/>
            <a:pathLst>
              <a:path h="1998791" w="7240905">
                <a:moveTo>
                  <a:pt x="0" y="0"/>
                </a:moveTo>
                <a:lnTo>
                  <a:pt x="7240904" y="0"/>
                </a:lnTo>
                <a:lnTo>
                  <a:pt x="7240904" y="1998792"/>
                </a:lnTo>
                <a:lnTo>
                  <a:pt x="0" y="1998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46234" y="1205227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0894" y="621983"/>
            <a:ext cx="7339459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</a:t>
            </a: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jetivo: Mejora del módulo de Estado del Sistema y Notificaciones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41078" y="1059497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7359" y="2368895"/>
            <a:ext cx="491996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Resultado Generado por la 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29737" y="5505104"/>
            <a:ext cx="5950860" cy="236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999" spc="-23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Mejora realizada por el grupo:</a:t>
            </a:r>
          </a:p>
          <a:p>
            <a:pPr algn="just" marL="647695" indent="-323848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23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ajustó manualmente el CSS.</a:t>
            </a:r>
          </a:p>
          <a:p>
            <a:pPr algn="just" marL="647695" indent="-323848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23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modificaron tamaños y espaciados.</a:t>
            </a:r>
          </a:p>
          <a:p>
            <a:pPr algn="just" marL="647695" indent="-323848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23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</a:t>
            </a:r>
            <a:r>
              <a:rPr lang="en-US" sz="2999" spc="-23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redujo el número de alertas activas mostradas en el contador.</a:t>
            </a:r>
          </a:p>
          <a:p>
            <a:pPr algn="just">
              <a:lnSpc>
                <a:spcPts val="3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4700" y="3882888"/>
            <a:ext cx="13449948" cy="3147860"/>
          </a:xfrm>
          <a:custGeom>
            <a:avLst/>
            <a:gdLst/>
            <a:ahLst/>
            <a:cxnLst/>
            <a:rect r="r" b="b" t="t" l="l"/>
            <a:pathLst>
              <a:path h="3147860" w="13449948">
                <a:moveTo>
                  <a:pt x="0" y="0"/>
                </a:moveTo>
                <a:lnTo>
                  <a:pt x="13449948" y="0"/>
                </a:lnTo>
                <a:lnTo>
                  <a:pt x="13449948" y="3147860"/>
                </a:lnTo>
                <a:lnTo>
                  <a:pt x="0" y="3147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3955" y="2958638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01837" y="621983"/>
            <a:ext cx="439757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</a:t>
            </a: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jetivo:  Defnir estructura del proyecto.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41078" y="1059497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8523" y="2102552"/>
            <a:ext cx="10438872" cy="4616469"/>
          </a:xfrm>
          <a:custGeom>
            <a:avLst/>
            <a:gdLst/>
            <a:ahLst/>
            <a:cxnLst/>
            <a:rect r="r" b="b" t="t" l="l"/>
            <a:pathLst>
              <a:path h="4616469" w="10438872">
                <a:moveTo>
                  <a:pt x="0" y="0"/>
                </a:moveTo>
                <a:lnTo>
                  <a:pt x="10438872" y="0"/>
                </a:lnTo>
                <a:lnTo>
                  <a:pt x="10438872" y="4616469"/>
                </a:lnTo>
                <a:lnTo>
                  <a:pt x="0" y="4616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2468" y="7574203"/>
            <a:ext cx="10175802" cy="843590"/>
          </a:xfrm>
          <a:custGeom>
            <a:avLst/>
            <a:gdLst/>
            <a:ahLst/>
            <a:cxnLst/>
            <a:rect r="r" b="b" t="t" l="l"/>
            <a:pathLst>
              <a:path h="843590" w="10175802">
                <a:moveTo>
                  <a:pt x="0" y="0"/>
                </a:moveTo>
                <a:lnTo>
                  <a:pt x="10175802" y="0"/>
                </a:lnTo>
                <a:lnTo>
                  <a:pt x="10175802" y="843590"/>
                </a:lnTo>
                <a:lnTo>
                  <a:pt x="0" y="843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2468" y="8781053"/>
            <a:ext cx="11440039" cy="896299"/>
          </a:xfrm>
          <a:custGeom>
            <a:avLst/>
            <a:gdLst/>
            <a:ahLst/>
            <a:cxnLst/>
            <a:rect r="r" b="b" t="t" l="l"/>
            <a:pathLst>
              <a:path h="896299" w="11440039">
                <a:moveTo>
                  <a:pt x="0" y="0"/>
                </a:moveTo>
                <a:lnTo>
                  <a:pt x="11440039" y="0"/>
                </a:lnTo>
                <a:lnTo>
                  <a:pt x="11440039" y="896300"/>
                </a:lnTo>
                <a:lnTo>
                  <a:pt x="0" y="89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01837" y="621983"/>
            <a:ext cx="439757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</a:t>
            </a: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jetivo:  Defnir estructura del proyecto.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41078" y="1059497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8523" y="1668874"/>
            <a:ext cx="491996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Resultado Generado por la 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03668" y="596901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7395" y="7831850"/>
            <a:ext cx="1704975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1r Versión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88564" y="9094153"/>
            <a:ext cx="2173932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Versión Final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87067" y="2102552"/>
            <a:ext cx="6443328" cy="379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b="true" sz="3299" spc="-2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Trabajo realizado por el grupo:</a:t>
            </a:r>
          </a:p>
          <a:p>
            <a:pPr algn="just">
              <a:lnSpc>
                <a:spcPts val="3299"/>
              </a:lnSpc>
              <a:spcBef>
                <a:spcPct val="0"/>
              </a:spcBef>
            </a:pPr>
            <a:r>
              <a:rPr lang="en-US" sz="3299" spc="-2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partir de la sugerencia de ChatGPT de como organizar  nuestro proyecto se crea la 1ra versión del dashboard de nuestro proyecto, y despues de feedbacks  tanto del profesor como del mismo grupo, se llegó a una version final del dashboard el cual facilita  la navegacion dentro de la pagina web.</a:t>
            </a:r>
          </a:p>
          <a:p>
            <a:pPr algn="just">
              <a:lnSpc>
                <a:spcPts val="3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83317" y="4575958"/>
            <a:ext cx="9121365" cy="5505689"/>
          </a:xfrm>
          <a:custGeom>
            <a:avLst/>
            <a:gdLst/>
            <a:ahLst/>
            <a:cxnLst/>
            <a:rect r="r" b="b" t="t" l="l"/>
            <a:pathLst>
              <a:path h="5505689" w="9121365">
                <a:moveTo>
                  <a:pt x="0" y="0"/>
                </a:moveTo>
                <a:lnTo>
                  <a:pt x="9121366" y="0"/>
                </a:lnTo>
                <a:lnTo>
                  <a:pt x="9121366" y="5505689"/>
                </a:lnTo>
                <a:lnTo>
                  <a:pt x="0" y="5505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98504" y="2155072"/>
            <a:ext cx="9690991" cy="1747977"/>
          </a:xfrm>
          <a:custGeom>
            <a:avLst/>
            <a:gdLst/>
            <a:ahLst/>
            <a:cxnLst/>
            <a:rect r="r" b="b" t="t" l="l"/>
            <a:pathLst>
              <a:path h="1747977" w="9690991">
                <a:moveTo>
                  <a:pt x="0" y="0"/>
                </a:moveTo>
                <a:lnTo>
                  <a:pt x="9690992" y="0"/>
                </a:lnTo>
                <a:lnTo>
                  <a:pt x="9690992" y="1747977"/>
                </a:lnTo>
                <a:lnTo>
                  <a:pt x="0" y="1747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4980" y="1278963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41078" y="807746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4020" y="4075356"/>
            <a:ext cx="491996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Resultado Generado por la 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3038" y="370232"/>
            <a:ext cx="5655171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Ejemplo : Diseñar modulo de agregar nuevo usuario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57803" y="4152180"/>
            <a:ext cx="8730197" cy="5117702"/>
          </a:xfrm>
          <a:custGeom>
            <a:avLst/>
            <a:gdLst/>
            <a:ahLst/>
            <a:cxnLst/>
            <a:rect r="r" b="b" t="t" l="l"/>
            <a:pathLst>
              <a:path h="5117702" w="8730197">
                <a:moveTo>
                  <a:pt x="0" y="0"/>
                </a:moveTo>
                <a:lnTo>
                  <a:pt x="8730197" y="0"/>
                </a:lnTo>
                <a:lnTo>
                  <a:pt x="8730197" y="5117702"/>
                </a:lnTo>
                <a:lnTo>
                  <a:pt x="0" y="5117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140598"/>
            <a:ext cx="8535603" cy="5129284"/>
          </a:xfrm>
          <a:custGeom>
            <a:avLst/>
            <a:gdLst/>
            <a:ahLst/>
            <a:cxnLst/>
            <a:rect r="r" b="b" t="t" l="l"/>
            <a:pathLst>
              <a:path h="5129284" w="8535603">
                <a:moveTo>
                  <a:pt x="0" y="0"/>
                </a:moveTo>
                <a:lnTo>
                  <a:pt x="8535603" y="0"/>
                </a:lnTo>
                <a:lnTo>
                  <a:pt x="8535603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28312" y="1525197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3038" y="370232"/>
            <a:ext cx="5655171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Ejemplo : Diseñar modulo de agregar nuevo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41078" y="807746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67802" y="1429947"/>
            <a:ext cx="13584112" cy="215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b="true" sz="3299" spc="-2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Trabajo realizado por el grupo:</a:t>
            </a:r>
          </a:p>
          <a:p>
            <a:pPr algn="just">
              <a:lnSpc>
                <a:spcPts val="3299"/>
              </a:lnSpc>
              <a:spcBef>
                <a:spcPct val="0"/>
              </a:spcBef>
            </a:pPr>
            <a:r>
              <a:rPr lang="en-US" sz="3299" spc="-2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partir de la sugerencia de ChatGPT y de la creatividad del grupo se creo la 1ra versión del modulo de agregar  nuevo usuario, y despues de algunos feedbacks se llego a la versión final en donde se modificaron algunos botones.</a:t>
            </a:r>
          </a:p>
          <a:p>
            <a:pPr algn="just">
              <a:lnSpc>
                <a:spcPts val="33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307711" y="3776260"/>
            <a:ext cx="192018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1ra Version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3183" y="3776260"/>
            <a:ext cx="2173932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Version Final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44615"/>
            <a:ext cx="10308374" cy="5282794"/>
          </a:xfrm>
          <a:custGeom>
            <a:avLst/>
            <a:gdLst/>
            <a:ahLst/>
            <a:cxnLst/>
            <a:rect r="r" b="b" t="t" l="l"/>
            <a:pathLst>
              <a:path h="5282794" w="10308374">
                <a:moveTo>
                  <a:pt x="0" y="0"/>
                </a:moveTo>
                <a:lnTo>
                  <a:pt x="10308374" y="0"/>
                </a:lnTo>
                <a:lnTo>
                  <a:pt x="10308374" y="5282794"/>
                </a:lnTo>
                <a:lnTo>
                  <a:pt x="0" y="528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63039"/>
            <a:ext cx="9393657" cy="478658"/>
          </a:xfrm>
          <a:custGeom>
            <a:avLst/>
            <a:gdLst/>
            <a:ahLst/>
            <a:cxnLst/>
            <a:rect r="r" b="b" t="t" l="l"/>
            <a:pathLst>
              <a:path h="478658" w="9393657">
                <a:moveTo>
                  <a:pt x="0" y="0"/>
                </a:moveTo>
                <a:lnTo>
                  <a:pt x="9393657" y="0"/>
                </a:lnTo>
                <a:lnTo>
                  <a:pt x="9393657" y="478658"/>
                </a:lnTo>
                <a:lnTo>
                  <a:pt x="0" y="478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28312" y="1525197"/>
            <a:ext cx="5155523" cy="6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Prompt  N°5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14624" y="370232"/>
            <a:ext cx="3371999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spc="-20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Ejemplo : Ideas para Tipografia.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41078" y="807746"/>
            <a:ext cx="391909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utilizado: ChatGPT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60169" y="4444615"/>
            <a:ext cx="4418738" cy="297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b="true" sz="3299" spc="-2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Trabajo realizado por el grupo:</a:t>
            </a:r>
          </a:p>
          <a:p>
            <a:pPr algn="just">
              <a:lnSpc>
                <a:spcPts val="3299"/>
              </a:lnSpc>
              <a:spcBef>
                <a:spcPct val="0"/>
              </a:spcBef>
            </a:pPr>
            <a:r>
              <a:rPr lang="en-US" sz="3299" spc="-2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Finalmente a partir de la sugerencia de Chatgpt y la aprobacion del grupo se uso la tipografia Inter para el proyecto.</a:t>
            </a:r>
          </a:p>
          <a:p>
            <a:pPr algn="just">
              <a:lnSpc>
                <a:spcPts val="33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30261"/>
            <a:ext cx="491996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Resultado Generado por la 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81100"/>
            <a:ext cx="18288000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63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Reflexion del Grupo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20809"/>
            <a:ext cx="16230600" cy="303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4799" spc="-3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</a:t>
            </a:r>
            <a:r>
              <a:rPr lang="en-US" sz="4799" spc="-3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IA fue utilizada como una herramienta de apoyo para generar ideas, proponer estructuras y resolver dudas técnicas. Sin embargo, todas las propuestas fueron revisadas, adaptadas y modificadas por el equipo para ajustarlas a los requerimientos del proyecto SeguriX y a los criterios establecidos en la asignatura.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DAHNzBcYBis</dc:identifier>
  <dcterms:modified xsi:type="dcterms:W3CDTF">2011-08-01T06:04:30Z</dcterms:modified>
  <cp:revision>1</cp:revision>
  <dc:title>Bitacora IA</dc:title>
</cp:coreProperties>
</file>